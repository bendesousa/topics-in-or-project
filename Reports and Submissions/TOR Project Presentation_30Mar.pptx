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300" r:id="rId4"/>
    <p:sldId id="267" r:id="rId5"/>
    <p:sldId id="301" r:id="rId6"/>
    <p:sldId id="269" r:id="rId7"/>
    <p:sldId id="299" r:id="rId8"/>
    <p:sldId id="268" r:id="rId9"/>
    <p:sldId id="273" r:id="rId10"/>
    <p:sldId id="298" r:id="rId11"/>
    <p:sldId id="285" r:id="rId12"/>
    <p:sldId id="3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2A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979" autoAdjust="0"/>
  </p:normalViewPr>
  <p:slideViewPr>
    <p:cSldViewPr snapToGrid="0">
      <p:cViewPr>
        <p:scale>
          <a:sx n="125" d="100"/>
          <a:sy n="125" d="100"/>
        </p:scale>
        <p:origin x="438" y="-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CF77-ED5A-418D-B550-2D3CC31779F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93F1-7848-4255-BDC8-E50984CEF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team set out to try to answer questions from the “Time” related scenario group. We aimed to reduce teaching hours daily to 9-5. We set a goal of average room utilization of 75%, guaranteeing a 1 hour lunch break anytime between 12-2pm, and with the background/undercurrent motivator of minimizing clashes including optional courses across schools.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1603DEDC-BA1A-5AF9-C022-5EE1627B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>
            <a:extLst>
              <a:ext uri="{FF2B5EF4-FFF2-40B4-BE49-F238E27FC236}">
                <a16:creationId xmlns:a16="http://schemas.microsoft.com/office/drawing/2014/main" id="{BD1B0E4D-B91B-EFD4-5BB6-1608CD5F1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>
            <a:extLst>
              <a:ext uri="{FF2B5EF4-FFF2-40B4-BE49-F238E27FC236}">
                <a16:creationId xmlns:a16="http://schemas.microsoft.com/office/drawing/2014/main" id="{5603DF46-CCAB-C401-4357-86D5EC459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5843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Violations of the daily end time are from the med school which requires too much time for certain courses.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233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Violations of the daily end time are from the med school which requires too much time for certain courses.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E0942665-59C7-E10D-29B8-B01F1FBF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936EEF14-609E-1BB1-33AB-63E9A4788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4619A209-0849-0736-C646-E4E41643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658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080b61eb8_3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f080b61eb8_3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Suitability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Formulation?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095537A0-B858-1B9B-1FA2-6CE63B7A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D2E387B8-9B48-D28A-3AE4-FC898F3FD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50034554-E559-FBE7-DD63-998C74487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154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4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325283" y="-124497"/>
            <a:ext cx="1141217" cy="346697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flipH="1">
            <a:off x="10558853" y="-371471"/>
            <a:ext cx="1845280" cy="12428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0086540" y="-124499"/>
            <a:ext cx="2306763" cy="272611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0800" y="1974740"/>
            <a:ext cx="9088800" cy="32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0133"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0800" y="5327384"/>
            <a:ext cx="6038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+mn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21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1323781" y="-268539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6"/>
          <p:cNvSpPr/>
          <p:nvPr/>
        </p:nvSpPr>
        <p:spPr>
          <a:xfrm rot="-2700000">
            <a:off x="-2228872" y="-850379"/>
            <a:ext cx="3057616" cy="344667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10428295" y="-1488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85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10311434" y="-11965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3"/>
          <p:cNvSpPr/>
          <p:nvPr/>
        </p:nvSpPr>
        <p:spPr>
          <a:xfrm rot="-1783285">
            <a:off x="10563509" y="-18609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3"/>
          <p:cNvSpPr/>
          <p:nvPr/>
        </p:nvSpPr>
        <p:spPr>
          <a:xfrm flipH="1">
            <a:off x="-442401" y="-2241767"/>
            <a:ext cx="1619168" cy="533685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991600" y="1971667"/>
            <a:ext cx="4240400" cy="4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43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10311449" y="-4853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15"/>
          <p:cNvSpPr/>
          <p:nvPr/>
        </p:nvSpPr>
        <p:spPr>
          <a:xfrm rot="-1783285">
            <a:off x="10868324" y="-10481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5"/>
          <p:cNvSpPr/>
          <p:nvPr/>
        </p:nvSpPr>
        <p:spPr>
          <a:xfrm flipH="1">
            <a:off x="-544501" y="-232035"/>
            <a:ext cx="1619168" cy="55046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876400" y="1585467"/>
            <a:ext cx="8439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678600" y="4204667"/>
            <a:ext cx="68348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90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1313046" y="33393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16"/>
          <p:cNvSpPr/>
          <p:nvPr/>
        </p:nvSpPr>
        <p:spPr>
          <a:xfrm>
            <a:off x="-2330466" y="-454219"/>
            <a:ext cx="3057695" cy="437828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106632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427600" y="41542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23196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10603735" y="89578"/>
            <a:ext cx="2532287" cy="1259236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487491" y="-492875"/>
            <a:ext cx="2765852" cy="293607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2141713" y="-857607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959867" y="2044600"/>
            <a:ext cx="10272000" cy="4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51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10240613" y="137862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20"/>
          <p:cNvSpPr/>
          <p:nvPr/>
        </p:nvSpPr>
        <p:spPr>
          <a:xfrm flipH="1">
            <a:off x="11355111" y="-647216"/>
            <a:ext cx="3057695" cy="344676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3400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960000" y="44173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960000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4645892" y="250081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4645895" y="3026384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8340795" y="44477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8340799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154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10499226" y="-183967"/>
            <a:ext cx="3308175" cy="392523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28"/>
          <p:cNvSpPr/>
          <p:nvPr/>
        </p:nvSpPr>
        <p:spPr>
          <a:xfrm rot="2700000">
            <a:off x="126368" y="-858306"/>
            <a:ext cx="1374712" cy="4176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7" name="Google Shape;217;p28"/>
          <p:cNvSpPr/>
          <p:nvPr/>
        </p:nvSpPr>
        <p:spPr>
          <a:xfrm>
            <a:off x="11435655" y="-877733"/>
            <a:ext cx="1374747" cy="41764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960000" y="500383"/>
            <a:ext cx="57264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667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950800" y="1858692"/>
            <a:ext cx="45796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15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18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06F7-8C12-E829-335C-ADAF1C0D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427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10A8-C84D-E5A5-FAED-39AA89A1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2546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1" r:id="rId3"/>
    <p:sldLayoutId id="2147483673" r:id="rId4"/>
    <p:sldLayoutId id="2147483674" r:id="rId5"/>
    <p:sldLayoutId id="2147483677" r:id="rId6"/>
    <p:sldLayoutId id="2147483678" r:id="rId7"/>
    <p:sldLayoutId id="2147483686" r:id="rId8"/>
    <p:sldLayoutId id="2147483687" r:id="rId9"/>
    <p:sldLayoutId id="2147483692" r:id="rId10"/>
    <p:sldLayoutId id="214748369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ctrTitle"/>
          </p:nvPr>
        </p:nvSpPr>
        <p:spPr/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dirty="0"/>
              <a:t>Timetabling Improvements</a:t>
            </a:r>
            <a:endParaRPr lang="en-GB" noProof="0" dirty="0"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"/>
          </p:nvPr>
        </p:nvSpPr>
        <p:spPr>
          <a:xfrm>
            <a:off x="577575" y="5366164"/>
            <a:ext cx="8512628" cy="6350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noProof="0" dirty="0"/>
              <a:t>Ben de Sousa, Alexandros </a:t>
            </a:r>
            <a:r>
              <a:rPr lang="en-GB" noProof="0" dirty="0" err="1"/>
              <a:t>Zachakos</a:t>
            </a:r>
            <a:r>
              <a:rPr lang="en-GB" noProof="0" dirty="0"/>
              <a:t>, Nolan Willoughby,</a:t>
            </a:r>
          </a:p>
        </p:txBody>
      </p:sp>
      <p:cxnSp>
        <p:nvCxnSpPr>
          <p:cNvPr id="234" name="Google Shape;234;p33"/>
          <p:cNvCxnSpPr>
            <a:cxnSpLocks/>
          </p:cNvCxnSpPr>
          <p:nvPr/>
        </p:nvCxnSpPr>
        <p:spPr>
          <a:xfrm>
            <a:off x="-442400" y="6491396"/>
            <a:ext cx="9186351" cy="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233;p33">
            <a:extLst>
              <a:ext uri="{FF2B5EF4-FFF2-40B4-BE49-F238E27FC236}">
                <a16:creationId xmlns:a16="http://schemas.microsoft.com/office/drawing/2014/main" id="{A16D7F8E-B3DE-BCEC-74F7-932B22C214E1}"/>
              </a:ext>
            </a:extLst>
          </p:cNvPr>
          <p:cNvSpPr txBox="1">
            <a:spLocks/>
          </p:cNvSpPr>
          <p:nvPr/>
        </p:nvSpPr>
        <p:spPr>
          <a:xfrm>
            <a:off x="577575" y="5770084"/>
            <a:ext cx="851262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GB" kern="0" dirty="0"/>
              <a:t>Todd House, and Conor McArthur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875367" y="1585385"/>
            <a:ext cx="8441267" cy="2618316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7200" b="1" noProof="0" dirty="0"/>
              <a:t>Time Goals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1"/>
          </p:nvPr>
        </p:nvSpPr>
        <p:spPr>
          <a:xfrm>
            <a:off x="687044" y="449589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Reduction in core hours to 9am-5pm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Average room utilisation of 75% of timetable slots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1-hour Lunch break between 12-2pm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Minimisation of clashes</a:t>
            </a:r>
          </a:p>
        </p:txBody>
      </p:sp>
      <p:cxnSp>
        <p:nvCxnSpPr>
          <p:cNvPr id="250" name="Google Shape;250;p3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533C5-A842-4488-282C-AC84E40D7F4D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2F3BA4-8512-9350-A793-6245E118B354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CDD0478-146E-8498-3D43-CD0EAC6BD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508097B-F715-7596-1333-824FF2B80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4EBB5A4-333C-B5D3-05A8-80E4E808B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062B81D-B0F0-360B-EEA7-5FF53575F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C06AB0-E7E5-9E53-45F6-6C82B4CFD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57B1B3A-66D9-7AB6-8A4B-6D8110C000C4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66DC6A56-BD65-138F-B907-21EC6538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5">
            <a:extLst>
              <a:ext uri="{FF2B5EF4-FFF2-40B4-BE49-F238E27FC236}">
                <a16:creationId xmlns:a16="http://schemas.microsoft.com/office/drawing/2014/main" id="{2D398CDD-D5C5-D645-D923-932B32985CB9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92B6B83-4761-559D-6958-E7B1AADFB22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E20564-9732-901C-3467-AA4AA78F3CD9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28E42E-2781-6F74-CB55-F3C1F0DCF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617D3B2-DD2E-3A66-3E2A-E5CA4E962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754BFB7-36CE-CBA2-2E5D-F4E469047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C68DC9F-9374-A981-B6BF-7E3CFD401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48A55D-22AD-E5ED-2661-5485BED50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530024-584C-B107-EBAF-D97A5DDFD456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ogle Shape;397;p44">
            <a:extLst>
              <a:ext uri="{FF2B5EF4-FFF2-40B4-BE49-F238E27FC236}">
                <a16:creationId xmlns:a16="http://schemas.microsoft.com/office/drawing/2014/main" id="{50E1D90B-270F-B43A-EE5B-AA55EBF60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3272705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3600" noProof="0" dirty="0"/>
              <a:t>Motivation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5E9BCB-9BFF-4C24-8181-8CE18787E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584" y="1460371"/>
            <a:ext cx="7130031" cy="498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07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Methods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4849301" y="3732633"/>
            <a:ext cx="2050422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lvl="0" indent="0"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Vet School tuning</a:t>
            </a:r>
          </a:p>
          <a:p>
            <a:pPr lvl="0" algn="ctr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Vet School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742112"/>
              <a:ext cx="15144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Lit. Review &amp; Data Processing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4877262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Model Formulation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7427503" y="4908878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Multiple Schools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9278270" y="5047378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Improvements</a:t>
              </a:r>
            </a:p>
          </p:txBody>
        </p:sp>
      </p:grpSp>
      <p:sp>
        <p:nvSpPr>
          <p:cNvPr id="2" name="Google Shape;399;p44">
            <a:extLst>
              <a:ext uri="{FF2B5EF4-FFF2-40B4-BE49-F238E27FC236}">
                <a16:creationId xmlns:a16="http://schemas.microsoft.com/office/drawing/2014/main" id="{ED325A0F-9A21-455F-BEDC-61B0B74AAC1D}"/>
              </a:ext>
            </a:extLst>
          </p:cNvPr>
          <p:cNvSpPr txBox="1">
            <a:spLocks/>
          </p:cNvSpPr>
          <p:nvPr/>
        </p:nvSpPr>
        <p:spPr>
          <a:xfrm>
            <a:off x="8994600" y="3696968"/>
            <a:ext cx="2130973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Genetic Algorithm 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3" name="Google Shape;399;p44">
            <a:extLst>
              <a:ext uri="{FF2B5EF4-FFF2-40B4-BE49-F238E27FC236}">
                <a16:creationId xmlns:a16="http://schemas.microsoft.com/office/drawing/2014/main" id="{71D26A3E-B4A9-D535-353D-1667E3CEE328}"/>
              </a:ext>
            </a:extLst>
          </p:cNvPr>
          <p:cNvSpPr txBox="1">
            <a:spLocks/>
          </p:cNvSpPr>
          <p:nvPr/>
        </p:nvSpPr>
        <p:spPr>
          <a:xfrm>
            <a:off x="2793797" y="3687824"/>
            <a:ext cx="195956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MIP</a:t>
            </a:r>
            <a:endParaRPr lang="en-GB" kern="0" dirty="0"/>
          </a:p>
        </p:txBody>
      </p:sp>
      <p:sp>
        <p:nvSpPr>
          <p:cNvPr id="4" name="Google Shape;399;p44">
            <a:extLst>
              <a:ext uri="{FF2B5EF4-FFF2-40B4-BE49-F238E27FC236}">
                <a16:creationId xmlns:a16="http://schemas.microsoft.com/office/drawing/2014/main" id="{1E7730B6-25BD-4F81-6A87-78C6BE383903}"/>
              </a:ext>
            </a:extLst>
          </p:cNvPr>
          <p:cNvSpPr txBox="1">
            <a:spLocks/>
          </p:cNvSpPr>
          <p:nvPr/>
        </p:nvSpPr>
        <p:spPr>
          <a:xfrm>
            <a:off x="426327" y="3687824"/>
            <a:ext cx="2398015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Data challenges: formatting, redundant entries, conflicting details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5" name="Google Shape;399;p44">
            <a:extLst>
              <a:ext uri="{FF2B5EF4-FFF2-40B4-BE49-F238E27FC236}">
                <a16:creationId xmlns:a16="http://schemas.microsoft.com/office/drawing/2014/main" id="{E1235BFA-C1A2-FD7D-681F-3D8C1FA16BCC}"/>
              </a:ext>
            </a:extLst>
          </p:cNvPr>
          <p:cNvSpPr txBox="1">
            <a:spLocks/>
          </p:cNvSpPr>
          <p:nvPr/>
        </p:nvSpPr>
        <p:spPr>
          <a:xfrm>
            <a:off x="6899723" y="3691000"/>
            <a:ext cx="2079492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Apply lessons learned to entire school set</a:t>
            </a:r>
          </a:p>
          <a:p>
            <a:pPr algn="ctr"/>
            <a:r>
              <a:rPr lang="en-GB" kern="0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83944-539C-6794-B247-6665F0F4EAA0}"/>
              </a:ext>
            </a:extLst>
          </p:cNvPr>
          <p:cNvCxnSpPr/>
          <p:nvPr/>
        </p:nvCxnSpPr>
        <p:spPr>
          <a:xfrm>
            <a:off x="2778411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40672F-D7DE-EB08-C6CF-8FD740D3C508}"/>
              </a:ext>
            </a:extLst>
          </p:cNvPr>
          <p:cNvCxnSpPr/>
          <p:nvPr/>
        </p:nvCxnSpPr>
        <p:spPr>
          <a:xfrm>
            <a:off x="4850474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39EBF-2A24-B79D-758E-0709253D04B6}"/>
              </a:ext>
            </a:extLst>
          </p:cNvPr>
          <p:cNvCxnSpPr/>
          <p:nvPr/>
        </p:nvCxnSpPr>
        <p:spPr>
          <a:xfrm>
            <a:off x="6923711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4A81C1-CDF8-7758-089D-9D6BEA2731F0}"/>
              </a:ext>
            </a:extLst>
          </p:cNvPr>
          <p:cNvCxnSpPr/>
          <p:nvPr/>
        </p:nvCxnSpPr>
        <p:spPr>
          <a:xfrm>
            <a:off x="8994600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4165" y="450639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Vet School Results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39E705C-0CDA-4127-9A04-CE3427AD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40" y="1245469"/>
            <a:ext cx="7791335" cy="516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40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4165" y="450639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B</a:t>
            </a:r>
            <a:r>
              <a:rPr lang="en-GB" sz="3500" b="1" kern="0" dirty="0" err="1"/>
              <a:t>aseline</a:t>
            </a:r>
            <a:r>
              <a:rPr lang="en-GB" sz="3500" b="1" kern="0" dirty="0"/>
              <a:t>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49CC2-0B98-CCE0-0AED-9FC724D79D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41" y="1234052"/>
            <a:ext cx="7741518" cy="5161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A77ACCB9-3692-2764-9906-EEB2EE87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3CAD2473-A6E0-DC3A-F5C5-978EA00A512F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1D07E67-7C08-C204-6F44-2079B38D99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3DB0F5-5778-3FDC-7D90-CA5D84F6AFFF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32534FA-E726-5752-C409-E8A66C7D2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2C8CA49-A861-18AC-032F-769E62BB1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3FAFDF3-A266-7B63-2711-E4CAAB914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EB109FE-47F0-B4CE-DF8A-495C8BA75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7DBA75-444A-2AD9-54AA-6083D058D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9E7DA60-B344-92F7-09A6-C61116D12210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DE5FED49-4A12-5067-4ADE-69A6D5182334}"/>
              </a:ext>
            </a:extLst>
          </p:cNvPr>
          <p:cNvSpPr txBox="1">
            <a:spLocks/>
          </p:cNvSpPr>
          <p:nvPr/>
        </p:nvSpPr>
        <p:spPr>
          <a:xfrm>
            <a:off x="1062567" y="453444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Improved Model Results</a:t>
            </a:r>
            <a:endParaRPr lang="en-GB" sz="3500" b="1" kern="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F66AFC3-9D51-4856-BF55-60CC888DB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41" y="1235978"/>
            <a:ext cx="7741518" cy="516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21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title" idx="6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dirty="0"/>
              <a:t>M</a:t>
            </a:r>
            <a:r>
              <a:rPr lang="en-GB" dirty="0" err="1"/>
              <a:t>etrics</a:t>
            </a:r>
            <a:endParaRPr lang="en-GB" noProof="0" dirty="0"/>
          </a:p>
        </p:txBody>
      </p:sp>
      <p:cxnSp>
        <p:nvCxnSpPr>
          <p:cNvPr id="422" name="Google Shape;422;p4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092FEEC-3791-DAB2-4BDC-7D19FA75D34C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08EB64-222E-5D6C-4186-1AE6C024BA6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A9EBE51-2C90-582C-92F8-04543FA40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F1BD6AB-38C5-9CEB-F731-8BF6E3765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DE94DBC-1A8E-688B-20C0-DB953AB32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0E66B75-25DC-AD53-7A65-F9D87BB93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2055FB-46C6-4AC3-DA81-33ACD31A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2F6407-4E38-51E5-F126-9F91E4923B1E}"/>
              </a:ext>
            </a:extLst>
          </p:cNvPr>
          <p:cNvSpPr/>
          <p:nvPr/>
        </p:nvSpPr>
        <p:spPr>
          <a:xfrm>
            <a:off x="11009443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Google Shape;631;p53">
            <a:extLst>
              <a:ext uri="{FF2B5EF4-FFF2-40B4-BE49-F238E27FC236}">
                <a16:creationId xmlns:a16="http://schemas.microsoft.com/office/drawing/2014/main" id="{C61B8160-D3A3-69B0-A42A-C09CADB9C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847610"/>
              </p:ext>
            </p:extLst>
          </p:nvPr>
        </p:nvGraphicFramePr>
        <p:xfrm>
          <a:off x="2157268" y="1970950"/>
          <a:ext cx="7877463" cy="4007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5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Base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Improved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Clashes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9431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Lunch Break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812882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After 5pm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&gt; 6hr / day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33,268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35179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Friday Afternoons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0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Considerations</a:t>
            </a:r>
          </a:p>
        </p:txBody>
      </p:sp>
      <p:cxnSp>
        <p:nvCxnSpPr>
          <p:cNvPr id="494" name="Google Shape;494;p50"/>
          <p:cNvCxnSpPr>
            <a:stCxn id="495" idx="2"/>
            <a:endCxn id="496" idx="0"/>
          </p:cNvCxnSpPr>
          <p:nvPr/>
        </p:nvCxnSpPr>
        <p:spPr>
          <a:xfrm rot="-5400000" flipH="1">
            <a:off x="7190400" y="1561484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7" name="Google Shape;497;p50"/>
          <p:cNvCxnSpPr>
            <a:stCxn id="498" idx="0"/>
            <a:endCxn id="495" idx="2"/>
          </p:cNvCxnSpPr>
          <p:nvPr/>
        </p:nvCxnSpPr>
        <p:spPr>
          <a:xfrm rot="-5400000">
            <a:off x="3583600" y="1561467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9" name="Google Shape;499;p50"/>
          <p:cNvCxnSpPr>
            <a:stCxn id="500" idx="0"/>
            <a:endCxn id="498" idx="2"/>
          </p:cNvCxnSpPr>
          <p:nvPr/>
        </p:nvCxnSpPr>
        <p:spPr>
          <a:xfrm rot="-5400000">
            <a:off x="2175200" y="4876333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01" name="Google Shape;501;p50"/>
          <p:cNvCxnSpPr>
            <a:stCxn id="496" idx="2"/>
            <a:endCxn id="502" idx="0"/>
          </p:cNvCxnSpPr>
          <p:nvPr/>
        </p:nvCxnSpPr>
        <p:spPr>
          <a:xfrm rot="-5400000" flipH="1">
            <a:off x="93888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95" name="Google Shape;495;p50"/>
          <p:cNvSpPr txBox="1"/>
          <p:nvPr/>
        </p:nvSpPr>
        <p:spPr>
          <a:xfrm>
            <a:off x="4191000" y="1853484"/>
            <a:ext cx="3810000" cy="802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0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Improve OR Efficacy</a:t>
            </a:r>
          </a:p>
        </p:txBody>
      </p:sp>
      <p:sp>
        <p:nvSpPr>
          <p:cNvPr id="498" name="Google Shape;498;p50"/>
          <p:cNvSpPr txBox="1"/>
          <p:nvPr/>
        </p:nvSpPr>
        <p:spPr>
          <a:xfrm>
            <a:off x="11632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Suitability</a:t>
            </a:r>
          </a:p>
        </p:txBody>
      </p:sp>
      <p:sp>
        <p:nvSpPr>
          <p:cNvPr id="496" name="Google Shape;496;p50"/>
          <p:cNvSpPr txBox="1"/>
          <p:nvPr/>
        </p:nvSpPr>
        <p:spPr>
          <a:xfrm>
            <a:off x="83768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Constraints</a:t>
            </a:r>
          </a:p>
        </p:txBody>
      </p:sp>
      <p:sp>
        <p:nvSpPr>
          <p:cNvPr id="502" name="Google Shape;502;p50"/>
          <p:cNvSpPr txBox="1"/>
          <p:nvPr/>
        </p:nvSpPr>
        <p:spPr>
          <a:xfrm>
            <a:off x="81644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Many relaxations required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0" name="Google Shape;500;p50"/>
          <p:cNvSpPr txBox="1"/>
          <p:nvPr/>
        </p:nvSpPr>
        <p:spPr>
          <a:xfrm>
            <a:off x="9508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Well suited to problem</a:t>
            </a:r>
          </a:p>
        </p:txBody>
      </p:sp>
      <p:sp>
        <p:nvSpPr>
          <p:cNvPr id="503" name="Google Shape;503;p50"/>
          <p:cNvSpPr txBox="1"/>
          <p:nvPr/>
        </p:nvSpPr>
        <p:spPr>
          <a:xfrm>
            <a:off x="47700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Formulation</a:t>
            </a:r>
            <a:endParaRPr lang="en-GB" sz="3200" kern="0" noProof="0" dirty="0">
              <a:solidFill>
                <a:srgbClr val="302926"/>
              </a:solidFill>
              <a:latin typeface="Arial" panose="020B0604020202020204" pitchFamily="34" charset="0"/>
              <a:ea typeface="Abril Fatface"/>
              <a:cs typeface="Arial" panose="020B0604020202020204" pitchFamily="34" charset="0"/>
              <a:sym typeface="Abril Fatface"/>
            </a:endParaRPr>
          </a:p>
        </p:txBody>
      </p:sp>
      <p:cxnSp>
        <p:nvCxnSpPr>
          <p:cNvPr id="504" name="Google Shape;504;p50"/>
          <p:cNvCxnSpPr>
            <a:stCxn id="495" idx="2"/>
            <a:endCxn id="503" idx="0"/>
          </p:cNvCxnSpPr>
          <p:nvPr/>
        </p:nvCxnSpPr>
        <p:spPr>
          <a:xfrm>
            <a:off x="6096000" y="2655884"/>
            <a:ext cx="0" cy="14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06" name="Google Shape;506;p50"/>
          <p:cNvSpPr txBox="1"/>
          <p:nvPr/>
        </p:nvSpPr>
        <p:spPr>
          <a:xfrm>
            <a:off x="4375223" y="5191133"/>
            <a:ext cx="3441553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-GB" sz="1867" kern="0" dirty="0" err="1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arge</a:t>
            </a:r>
            <a:r>
              <a:rPr lang="en-GB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 problem space with high computational demands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7" name="Google Shape;507;p50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6A3A87-12CF-7C77-C663-FAF3078044F7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BC54AF-E6F6-9876-C594-E94EF09FBEC0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FB04BE-29DA-8826-3398-54562B03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4BB22C1-45E9-AF50-EBAE-9474722C2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AFE530C-2BAA-FF38-1162-48ABED5D4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69E070D-9155-8B8A-C4C9-ADD4B33B2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892ECF-DBD3-CC28-E0F7-F7C5AA59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B28140-5A31-B053-34C6-D4C17CF8FD0E}"/>
              </a:ext>
            </a:extLst>
          </p:cNvPr>
          <p:cNvSpPr/>
          <p:nvPr/>
        </p:nvSpPr>
        <p:spPr>
          <a:xfrm>
            <a:off x="12351465" y="5952214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Google Shape;501;p50">
            <a:extLst>
              <a:ext uri="{FF2B5EF4-FFF2-40B4-BE49-F238E27FC236}">
                <a16:creationId xmlns:a16="http://schemas.microsoft.com/office/drawing/2014/main" id="{FDC57360-5439-4FA4-AD65-4C4EBF35810A}"/>
              </a:ext>
            </a:extLst>
          </p:cNvPr>
          <p:cNvCxnSpPr/>
          <p:nvPr/>
        </p:nvCxnSpPr>
        <p:spPr>
          <a:xfrm rot="-5400000" flipH="1">
            <a:off x="5781199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12D34A5B-D093-B91E-4A67-49BEC293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262397F7-5269-8285-5485-9AEA490E68DC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C021FA2-88DA-20C4-DBE4-438723B4EA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9DD6AFF-07F2-5F4A-88F9-930E098B5E18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1963F-EF34-1596-4640-3AD8618FC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74EEFC5-0C15-7F79-D0AA-F09096CFF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1A04A87-A5B6-9A3B-635D-6D3DBB532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5A3B7EF-E09F-8740-0B3F-45F194671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1FD210-0EF5-DD9D-B955-B6544C905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491DB457-226D-D928-0A98-503C5DC161F7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Recommendations</a:t>
            </a:r>
          </a:p>
        </p:txBody>
      </p:sp>
      <p:sp>
        <p:nvSpPr>
          <p:cNvPr id="2" name="Google Shape;249;p35">
            <a:extLst>
              <a:ext uri="{FF2B5EF4-FFF2-40B4-BE49-F238E27FC236}">
                <a16:creationId xmlns:a16="http://schemas.microsoft.com/office/drawing/2014/main" id="{BF125AF0-F9C4-97B8-F997-CF203B3C87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0290" y="3210972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Refine data entry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Tiered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deconfliction meetings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Tracked “sub” degrees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Push for fu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ndamental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changes in teaching format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Google Shape;463;p49">
            <a:extLst>
              <a:ext uri="{FF2B5EF4-FFF2-40B4-BE49-F238E27FC236}">
                <a16:creationId xmlns:a16="http://schemas.microsoft.com/office/drawing/2014/main" id="{7A93A3D6-695A-B34D-A2CB-95C758766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369" y="4962035"/>
            <a:ext cx="2174882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1800" noProof="0" dirty="0"/>
              <a:t>Data Restructuring</a:t>
            </a:r>
          </a:p>
        </p:txBody>
      </p:sp>
      <p:sp>
        <p:nvSpPr>
          <p:cNvPr id="421" name="Google Shape;465;p49">
            <a:extLst>
              <a:ext uri="{FF2B5EF4-FFF2-40B4-BE49-F238E27FC236}">
                <a16:creationId xmlns:a16="http://schemas.microsoft.com/office/drawing/2014/main" id="{57A5F40B-B131-2796-CAB2-14CF49027EEB}"/>
              </a:ext>
            </a:extLst>
          </p:cNvPr>
          <p:cNvSpPr txBox="1">
            <a:spLocks/>
          </p:cNvSpPr>
          <p:nvPr/>
        </p:nvSpPr>
        <p:spPr>
          <a:xfrm>
            <a:off x="9015036" y="4962036"/>
            <a:ext cx="1664625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D</a:t>
            </a:r>
            <a:r>
              <a:rPr lang="en-GB" kern="0" dirty="0" err="1"/>
              <a:t>aily</a:t>
            </a:r>
            <a:r>
              <a:rPr lang="en-GB" kern="0" dirty="0"/>
              <a:t> Layout  </a:t>
            </a:r>
          </a:p>
        </p:txBody>
      </p:sp>
      <p:sp>
        <p:nvSpPr>
          <p:cNvPr id="422" name="Google Shape;467;p49">
            <a:extLst>
              <a:ext uri="{FF2B5EF4-FFF2-40B4-BE49-F238E27FC236}">
                <a16:creationId xmlns:a16="http://schemas.microsoft.com/office/drawing/2014/main" id="{A19F01F1-DC0D-2541-B192-C1EF9125E967}"/>
              </a:ext>
            </a:extLst>
          </p:cNvPr>
          <p:cNvSpPr txBox="1">
            <a:spLocks/>
          </p:cNvSpPr>
          <p:nvPr/>
        </p:nvSpPr>
        <p:spPr>
          <a:xfrm>
            <a:off x="4832431" y="4948753"/>
            <a:ext cx="1972576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kern="0" dirty="0"/>
              <a:t>Degree Options</a:t>
            </a: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2AD575F-EAF4-2124-C165-DFD305FDF657}"/>
              </a:ext>
            </a:extLst>
          </p:cNvPr>
          <p:cNvGrpSpPr/>
          <p:nvPr/>
        </p:nvGrpSpPr>
        <p:grpSpPr>
          <a:xfrm>
            <a:off x="1242701" y="5651486"/>
            <a:ext cx="2029911" cy="208400"/>
            <a:chOff x="1593879" y="3101999"/>
            <a:chExt cx="2029911" cy="208400"/>
          </a:xfrm>
        </p:grpSpPr>
        <p:grpSp>
          <p:nvGrpSpPr>
            <p:cNvPr id="424" name="Google Shape;481;p49">
              <a:extLst>
                <a:ext uri="{FF2B5EF4-FFF2-40B4-BE49-F238E27FC236}">
                  <a16:creationId xmlns:a16="http://schemas.microsoft.com/office/drawing/2014/main" id="{16DD511D-4D06-4214-5688-18C633B7F886}"/>
                </a:ext>
              </a:extLst>
            </p:cNvPr>
            <p:cNvGrpSpPr/>
            <p:nvPr/>
          </p:nvGrpSpPr>
          <p:grpSpPr>
            <a:xfrm>
              <a:off x="1593879" y="3101999"/>
              <a:ext cx="1574534" cy="208400"/>
              <a:chOff x="3158416" y="3903808"/>
              <a:chExt cx="1180900" cy="156300"/>
            </a:xfrm>
          </p:grpSpPr>
          <p:sp>
            <p:nvSpPr>
              <p:cNvPr id="426" name="Google Shape;482;p49">
                <a:extLst>
                  <a:ext uri="{FF2B5EF4-FFF2-40B4-BE49-F238E27FC236}">
                    <a16:creationId xmlns:a16="http://schemas.microsoft.com/office/drawing/2014/main" id="{478EB4EA-544E-7283-25DD-76514EDEBC87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83;p49">
                <a:extLst>
                  <a:ext uri="{FF2B5EF4-FFF2-40B4-BE49-F238E27FC236}">
                    <a16:creationId xmlns:a16="http://schemas.microsoft.com/office/drawing/2014/main" id="{38F62FAC-4ED1-7E49-CAEB-28443AF8187A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84;p49">
                <a:extLst>
                  <a:ext uri="{FF2B5EF4-FFF2-40B4-BE49-F238E27FC236}">
                    <a16:creationId xmlns:a16="http://schemas.microsoft.com/office/drawing/2014/main" id="{4448BC35-102D-EA7D-82E8-6FEACF2ACD20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85;p49">
                <a:extLst>
                  <a:ext uri="{FF2B5EF4-FFF2-40B4-BE49-F238E27FC236}">
                    <a16:creationId xmlns:a16="http://schemas.microsoft.com/office/drawing/2014/main" id="{EEEE5B8A-3E1C-F05D-B915-5D372126F978}"/>
                  </a:ext>
                </a:extLst>
              </p:cNvPr>
              <p:cNvSpPr/>
              <p:nvPr/>
            </p:nvSpPr>
            <p:spPr>
              <a:xfrm flipH="1">
                <a:off x="41830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85;p49">
              <a:extLst>
                <a:ext uri="{FF2B5EF4-FFF2-40B4-BE49-F238E27FC236}">
                  <a16:creationId xmlns:a16="http://schemas.microsoft.com/office/drawing/2014/main" id="{6862B9AC-77FF-2064-AF11-4A8864158A67}"/>
                </a:ext>
              </a:extLst>
            </p:cNvPr>
            <p:cNvSpPr/>
            <p:nvPr/>
          </p:nvSpPr>
          <p:spPr>
            <a:xfrm flipH="1">
              <a:off x="3415390" y="3101999"/>
              <a:ext cx="208400" cy="20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0FB71E26-264B-37B8-00B9-80A85B42BB42}"/>
              </a:ext>
            </a:extLst>
          </p:cNvPr>
          <p:cNvGrpSpPr/>
          <p:nvPr/>
        </p:nvGrpSpPr>
        <p:grpSpPr>
          <a:xfrm flipH="1">
            <a:off x="4809857" y="5656964"/>
            <a:ext cx="2029911" cy="208400"/>
            <a:chOff x="5076513" y="3101999"/>
            <a:chExt cx="2029911" cy="208400"/>
          </a:xfrm>
        </p:grpSpPr>
        <p:grpSp>
          <p:nvGrpSpPr>
            <p:cNvPr id="432" name="Google Shape;475;p49">
              <a:extLst>
                <a:ext uri="{FF2B5EF4-FFF2-40B4-BE49-F238E27FC236}">
                  <a16:creationId xmlns:a16="http://schemas.microsoft.com/office/drawing/2014/main" id="{3E356A48-E147-AEFE-EA39-881CE1D834A1}"/>
                </a:ext>
              </a:extLst>
            </p:cNvPr>
            <p:cNvGrpSpPr/>
            <p:nvPr/>
          </p:nvGrpSpPr>
          <p:grpSpPr>
            <a:xfrm>
              <a:off x="5076513" y="3101999"/>
              <a:ext cx="2029911" cy="208400"/>
              <a:chOff x="3158416" y="3903808"/>
              <a:chExt cx="1522433" cy="156300"/>
            </a:xfrm>
          </p:grpSpPr>
          <p:sp>
            <p:nvSpPr>
              <p:cNvPr id="434" name="Google Shape;476;p49">
                <a:extLst>
                  <a:ext uri="{FF2B5EF4-FFF2-40B4-BE49-F238E27FC236}">
                    <a16:creationId xmlns:a16="http://schemas.microsoft.com/office/drawing/2014/main" id="{FC660B96-E097-BBBB-4C52-03561571CE36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77;p49">
                <a:extLst>
                  <a:ext uri="{FF2B5EF4-FFF2-40B4-BE49-F238E27FC236}">
                    <a16:creationId xmlns:a16="http://schemas.microsoft.com/office/drawing/2014/main" id="{BD27AB02-2C3A-32A2-0578-54F96DFD27BE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78;p49">
                <a:extLst>
                  <a:ext uri="{FF2B5EF4-FFF2-40B4-BE49-F238E27FC236}">
                    <a16:creationId xmlns:a16="http://schemas.microsoft.com/office/drawing/2014/main" id="{5E22BBB5-5510-4493-2811-21FB322432C7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80;p49">
                <a:extLst>
                  <a:ext uri="{FF2B5EF4-FFF2-40B4-BE49-F238E27FC236}">
                    <a16:creationId xmlns:a16="http://schemas.microsoft.com/office/drawing/2014/main" id="{D3913947-6707-E173-F71B-E64199ABEC04}"/>
                  </a:ext>
                </a:extLst>
              </p:cNvPr>
              <p:cNvSpPr/>
              <p:nvPr/>
            </p:nvSpPr>
            <p:spPr>
              <a:xfrm flipH="1">
                <a:off x="4524549" y="3903808"/>
                <a:ext cx="156300" cy="1563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80;p49">
              <a:extLst>
                <a:ext uri="{FF2B5EF4-FFF2-40B4-BE49-F238E27FC236}">
                  <a16:creationId xmlns:a16="http://schemas.microsoft.com/office/drawing/2014/main" id="{919C335C-E8D4-9020-D3F3-DD0971C8253E}"/>
                </a:ext>
              </a:extLst>
            </p:cNvPr>
            <p:cNvSpPr/>
            <p:nvPr/>
          </p:nvSpPr>
          <p:spPr>
            <a:xfrm flipH="1">
              <a:off x="6442645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75C7EE3F-5642-F74E-6B3A-6FE548AB77B6}"/>
              </a:ext>
            </a:extLst>
          </p:cNvPr>
          <p:cNvGrpSpPr/>
          <p:nvPr/>
        </p:nvGrpSpPr>
        <p:grpSpPr>
          <a:xfrm>
            <a:off x="8832395" y="5655244"/>
            <a:ext cx="2029911" cy="217925"/>
            <a:chOff x="8832395" y="3101999"/>
            <a:chExt cx="2029911" cy="217925"/>
          </a:xfrm>
        </p:grpSpPr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1F0A4EA4-7D01-64EC-40C7-3D28175FC10D}"/>
                </a:ext>
              </a:extLst>
            </p:cNvPr>
            <p:cNvGrpSpPr/>
            <p:nvPr/>
          </p:nvGrpSpPr>
          <p:grpSpPr>
            <a:xfrm flipH="1">
              <a:off x="8832395" y="3101999"/>
              <a:ext cx="2029911" cy="208400"/>
              <a:chOff x="5076513" y="3101999"/>
              <a:chExt cx="2029911" cy="208400"/>
            </a:xfrm>
          </p:grpSpPr>
          <p:grpSp>
            <p:nvGrpSpPr>
              <p:cNvPr id="442" name="Google Shape;475;p49">
                <a:extLst>
                  <a:ext uri="{FF2B5EF4-FFF2-40B4-BE49-F238E27FC236}">
                    <a16:creationId xmlns:a16="http://schemas.microsoft.com/office/drawing/2014/main" id="{E982A6AF-1ACB-F718-F9BD-934908500117}"/>
                  </a:ext>
                </a:extLst>
              </p:cNvPr>
              <p:cNvGrpSpPr/>
              <p:nvPr/>
            </p:nvGrpSpPr>
            <p:grpSpPr>
              <a:xfrm>
                <a:off x="5076513" y="3101999"/>
                <a:ext cx="2029911" cy="208400"/>
                <a:chOff x="3158416" y="3903808"/>
                <a:chExt cx="1522433" cy="156300"/>
              </a:xfrm>
            </p:grpSpPr>
            <p:sp>
              <p:nvSpPr>
                <p:cNvPr id="444" name="Google Shape;476;p49">
                  <a:extLst>
                    <a:ext uri="{FF2B5EF4-FFF2-40B4-BE49-F238E27FC236}">
                      <a16:creationId xmlns:a16="http://schemas.microsoft.com/office/drawing/2014/main" id="{4D19E9B8-35E7-39DA-7B45-D8201D0E292A}"/>
                    </a:ext>
                  </a:extLst>
                </p:cNvPr>
                <p:cNvSpPr/>
                <p:nvPr/>
              </p:nvSpPr>
              <p:spPr>
                <a:xfrm flipH="1">
                  <a:off x="3158416" y="3903808"/>
                  <a:ext cx="156300" cy="156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80;p49">
                  <a:extLst>
                    <a:ext uri="{FF2B5EF4-FFF2-40B4-BE49-F238E27FC236}">
                      <a16:creationId xmlns:a16="http://schemas.microsoft.com/office/drawing/2014/main" id="{D0E82AAB-6544-B1D6-167E-952E25DC0992}"/>
                    </a:ext>
                  </a:extLst>
                </p:cNvPr>
                <p:cNvSpPr/>
                <p:nvPr/>
              </p:nvSpPr>
              <p:spPr>
                <a:xfrm flipH="1">
                  <a:off x="4524549" y="3903808"/>
                  <a:ext cx="156300" cy="1563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3" name="Google Shape;480;p49">
                <a:extLst>
                  <a:ext uri="{FF2B5EF4-FFF2-40B4-BE49-F238E27FC236}">
                    <a16:creationId xmlns:a16="http://schemas.microsoft.com/office/drawing/2014/main" id="{2CAA370B-DAC7-C836-6965-AAE4472F8ACE}"/>
                  </a:ext>
                </a:extLst>
              </p:cNvPr>
              <p:cNvSpPr/>
              <p:nvPr/>
            </p:nvSpPr>
            <p:spPr>
              <a:xfrm flipH="1">
                <a:off x="6442645" y="3101999"/>
                <a:ext cx="208400" cy="2084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0" name="Google Shape;480;p49">
              <a:extLst>
                <a:ext uri="{FF2B5EF4-FFF2-40B4-BE49-F238E27FC236}">
                  <a16:creationId xmlns:a16="http://schemas.microsoft.com/office/drawing/2014/main" id="{9CB0342D-2DC0-53D8-9602-1FBAB9DE2181}"/>
                </a:ext>
              </a:extLst>
            </p:cNvPr>
            <p:cNvSpPr/>
            <p:nvPr/>
          </p:nvSpPr>
          <p:spPr>
            <a:xfrm>
              <a:off x="9743149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80;p49">
              <a:extLst>
                <a:ext uri="{FF2B5EF4-FFF2-40B4-BE49-F238E27FC236}">
                  <a16:creationId xmlns:a16="http://schemas.microsoft.com/office/drawing/2014/main" id="{0AC7F0CC-E68B-CA37-E5ED-9EC3106E2005}"/>
                </a:ext>
              </a:extLst>
            </p:cNvPr>
            <p:cNvSpPr/>
            <p:nvPr/>
          </p:nvSpPr>
          <p:spPr>
            <a:xfrm>
              <a:off x="10198524" y="3111524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527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2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Thank You</a:t>
            </a:r>
          </a:p>
        </p:txBody>
      </p:sp>
      <p:sp>
        <p:nvSpPr>
          <p:cNvPr id="805" name="Google Shape;805;p62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Do you have any questions?</a:t>
            </a:r>
          </a:p>
          <a:p>
            <a:pPr lvl="0"/>
            <a:endParaRPr lang="en-GB" noProof="0" dirty="0"/>
          </a:p>
        </p:txBody>
      </p:sp>
      <p:cxnSp>
        <p:nvCxnSpPr>
          <p:cNvPr id="821" name="Google Shape;821;p62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D91E3BC-38FB-55F7-25EB-DF3AA8BE8BC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498FD9-97A5-6445-ED58-0C59A18A0FD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8F8CFFF-FD8B-A661-84EF-CAAABEB562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8DE113D-9B69-8306-5A69-DC61DBCB5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715FCD3-E617-373D-5873-C17E4A82E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EC3839F-5F42-43A8-5053-0D795897F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1A1950-AFC5-40B5-26DC-684E92CDF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805;p62">
            <a:extLst>
              <a:ext uri="{FF2B5EF4-FFF2-40B4-BE49-F238E27FC236}">
                <a16:creationId xmlns:a16="http://schemas.microsoft.com/office/drawing/2014/main" id="{A6FBC24A-A3E4-4AC3-A9A1-0FD2633687FF}"/>
              </a:ext>
            </a:extLst>
          </p:cNvPr>
          <p:cNvSpPr txBox="1">
            <a:spLocks/>
          </p:cNvSpPr>
          <p:nvPr/>
        </p:nvSpPr>
        <p:spPr>
          <a:xfrm>
            <a:off x="4204540" y="3004001"/>
            <a:ext cx="4579600" cy="19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GB" sz="3600" kern="0" dirty="0"/>
              <a:t>WE SUCK</a:t>
            </a:r>
          </a:p>
          <a:p>
            <a:endParaRPr lang="en-GB" kern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Example New Teaching Format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4678682" y="3732633"/>
            <a:ext cx="2221041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  <a:p>
            <a:pPr lvl="0" algn="ctr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97833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A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500680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B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7427503" y="5038418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B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9278270" y="5047378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A</a:t>
              </a:r>
            </a:p>
          </p:txBody>
        </p:sp>
      </p:grpSp>
      <p:sp>
        <p:nvSpPr>
          <p:cNvPr id="2" name="Google Shape;399;p44">
            <a:extLst>
              <a:ext uri="{FF2B5EF4-FFF2-40B4-BE49-F238E27FC236}">
                <a16:creationId xmlns:a16="http://schemas.microsoft.com/office/drawing/2014/main" id="{ED325A0F-9A21-455F-BEDC-61B0B74AAC1D}"/>
              </a:ext>
            </a:extLst>
          </p:cNvPr>
          <p:cNvSpPr txBox="1">
            <a:spLocks/>
          </p:cNvSpPr>
          <p:nvPr/>
        </p:nvSpPr>
        <p:spPr>
          <a:xfrm>
            <a:off x="8994600" y="3696968"/>
            <a:ext cx="229061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</p:txBody>
      </p:sp>
      <p:sp>
        <p:nvSpPr>
          <p:cNvPr id="3" name="Google Shape;399;p44">
            <a:extLst>
              <a:ext uri="{FF2B5EF4-FFF2-40B4-BE49-F238E27FC236}">
                <a16:creationId xmlns:a16="http://schemas.microsoft.com/office/drawing/2014/main" id="{71D26A3E-B4A9-D535-353D-1667E3CEE328}"/>
              </a:ext>
            </a:extLst>
          </p:cNvPr>
          <p:cNvSpPr txBox="1">
            <a:spLocks/>
          </p:cNvSpPr>
          <p:nvPr/>
        </p:nvSpPr>
        <p:spPr>
          <a:xfrm>
            <a:off x="2793797" y="3687824"/>
            <a:ext cx="195956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1000- Risk and Logistics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1200- OREI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1600- SRS</a:t>
            </a:r>
            <a:endParaRPr lang="en-GB" kern="0" dirty="0"/>
          </a:p>
        </p:txBody>
      </p:sp>
      <p:sp>
        <p:nvSpPr>
          <p:cNvPr id="4" name="Google Shape;399;p44">
            <a:extLst>
              <a:ext uri="{FF2B5EF4-FFF2-40B4-BE49-F238E27FC236}">
                <a16:creationId xmlns:a16="http://schemas.microsoft.com/office/drawing/2014/main" id="{1E7730B6-25BD-4F81-6A87-78C6BE383903}"/>
              </a:ext>
            </a:extLst>
          </p:cNvPr>
          <p:cNvSpPr txBox="1">
            <a:spLocks/>
          </p:cNvSpPr>
          <p:nvPr/>
        </p:nvSpPr>
        <p:spPr>
          <a:xfrm>
            <a:off x="426327" y="3687824"/>
            <a:ext cx="2398015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5" name="Google Shape;399;p44">
            <a:extLst>
              <a:ext uri="{FF2B5EF4-FFF2-40B4-BE49-F238E27FC236}">
                <a16:creationId xmlns:a16="http://schemas.microsoft.com/office/drawing/2014/main" id="{E1235BFA-C1A2-FD7D-681F-3D8C1FA16BCC}"/>
              </a:ext>
            </a:extLst>
          </p:cNvPr>
          <p:cNvSpPr txBox="1">
            <a:spLocks/>
          </p:cNvSpPr>
          <p:nvPr/>
        </p:nvSpPr>
        <p:spPr>
          <a:xfrm>
            <a:off x="6899723" y="3691000"/>
            <a:ext cx="2079492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1000- Risk and Logistics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1200- OREI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1600- SRS</a:t>
            </a:r>
            <a:endParaRPr lang="en-GB" kern="0" dirty="0"/>
          </a:p>
          <a:p>
            <a:pPr algn="ctr"/>
            <a:r>
              <a:rPr lang="en-GB" kern="0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83944-539C-6794-B247-6665F0F4EAA0}"/>
              </a:ext>
            </a:extLst>
          </p:cNvPr>
          <p:cNvCxnSpPr/>
          <p:nvPr/>
        </p:nvCxnSpPr>
        <p:spPr>
          <a:xfrm>
            <a:off x="2778411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40672F-D7DE-EB08-C6CF-8FD740D3C508}"/>
              </a:ext>
            </a:extLst>
          </p:cNvPr>
          <p:cNvCxnSpPr/>
          <p:nvPr/>
        </p:nvCxnSpPr>
        <p:spPr>
          <a:xfrm>
            <a:off x="4850474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39EBF-2A24-B79D-758E-0709253D04B6}"/>
              </a:ext>
            </a:extLst>
          </p:cNvPr>
          <p:cNvCxnSpPr/>
          <p:nvPr/>
        </p:nvCxnSpPr>
        <p:spPr>
          <a:xfrm>
            <a:off x="6923711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4A81C1-CDF8-7758-089D-9D6BEA2731F0}"/>
              </a:ext>
            </a:extLst>
          </p:cNvPr>
          <p:cNvCxnSpPr/>
          <p:nvPr/>
        </p:nvCxnSpPr>
        <p:spPr>
          <a:xfrm>
            <a:off x="8994600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376968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2906</TotalTime>
  <Words>332</Words>
  <Application>Microsoft Office PowerPoint</Application>
  <PresentationFormat>Widescreen</PresentationFormat>
  <Paragraphs>101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Abril Fatface</vt:lpstr>
      <vt:lpstr>Arial</vt:lpstr>
      <vt:lpstr>Calibri</vt:lpstr>
      <vt:lpstr>Nunito</vt:lpstr>
      <vt:lpstr>Elegant Lines Pitch Deck by Slidesgo</vt:lpstr>
      <vt:lpstr>Timetabling Improvements</vt:lpstr>
      <vt:lpstr>Time Goals</vt:lpstr>
      <vt:lpstr>Motivation</vt:lpstr>
      <vt:lpstr>Methods</vt:lpstr>
      <vt:lpstr>PowerPoint Presentation</vt:lpstr>
      <vt:lpstr>PowerPoint Presentation</vt:lpstr>
      <vt:lpstr>PowerPoint Presentation</vt:lpstr>
      <vt:lpstr>Metrics</vt:lpstr>
      <vt:lpstr>Considerations</vt:lpstr>
      <vt:lpstr>Data Restructuring</vt:lpstr>
      <vt:lpstr>Thank You</vt:lpstr>
      <vt:lpstr>Example New Teaching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Timetabling Improvements</dc:title>
  <dc:creator>Todd House</dc:creator>
  <cp:lastModifiedBy>Todd House</cp:lastModifiedBy>
  <cp:revision>24</cp:revision>
  <dcterms:created xsi:type="dcterms:W3CDTF">2026-03-14T17:52:05Z</dcterms:created>
  <dcterms:modified xsi:type="dcterms:W3CDTF">2026-03-30T16:47:40Z</dcterms:modified>
</cp:coreProperties>
</file>